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9.jpeg" ContentType="image/jpeg"/>
  <Override PartName="/ppt/media/image11.jpeg" ContentType="image/jpeg"/>
  <Override PartName="/ppt/media/image13.jpeg" ContentType="image/jpeg"/>
  <Override PartName="/ppt/media/image8.jpeg" ContentType="image/jpeg"/>
  <Override PartName="/ppt/media/image10.jpeg" ContentType="image/jpeg"/>
  <Override PartName="/ppt/media/image12.jpeg" ContentType="image/jpeg"/>
  <Override PartName="/ppt/media/image19.jpeg" ContentType="image/jpeg"/>
  <Override PartName="/ppt/media/image1.jpeg" ContentType="image/jpeg"/>
  <Override PartName="/ppt/media/image18.jpeg" ContentType="image/jpeg"/>
  <Override PartName="/ppt/media/image17.jpeg" ContentType="image/jpeg"/>
  <Override PartName="/ppt/media/image16.jpeg" ContentType="image/jpeg"/>
  <Override PartName="/ppt/media/image15.jpeg" ContentType="image/jpeg"/>
  <Override PartName="/ppt/media/image14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660DF97-9B44-49A0-B991-A48642A4D38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BBEAE02-86FA-417E-A884-F85BE3D1AC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3720317-77E6-4202-B94E-06F3FAA4F7B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C12917A-7C4D-404D-8DEA-7A7221AD4E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DE541E-0A2D-4B33-95EB-24E94299854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4A8A972-4040-4D31-9A9A-BE92815B78F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B00E46-8D43-4917-8A35-0B85FB99960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00907D-4567-4B31-83A3-35F408087F0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3D595AA-3F45-4C61-9A76-A5FFC131B08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6A1FD52-E9A3-47B9-A915-59B70E9577F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3512652-D8D3-4BA1-B159-4978FA53856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DBE16E-3CFE-4871-B0BC-A6A5A444FE5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A05C09E-1D7E-4CF5-A3AC-F3B929AD9D3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3A7ACB8-9AE0-4EFF-810F-8A11CFB1DC3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0E8A093-1EB8-4F5D-8CD2-FF90B6FAFB6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08AA7A0-84F3-4EAD-8430-4576AB3DEA1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B0F3E50-D103-4AAF-B9BA-9F41443551D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AE10815-3625-40E5-AD3A-4B6FA9C16B0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E99DE92-1573-4F0F-9982-4C00F2A2FC7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89AD78B-EC6D-4588-94D5-76E4BD07F42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6E31B18-06FC-42D7-A7C6-CFF04241635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64C6B63-3970-496D-A30C-C5F19D4539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09E2FD6-2E2D-4B20-A2CD-6EF43A2F5D6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C9C0020-DB5A-42F7-989E-FF0236A9D31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HK" sz="1800" spc="-1" strike="noStrike">
                <a:latin typeface="Arial"/>
              </a:rPr>
              <a:t>Click to edit the title text format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87EF39B-F58C-470B-B4A0-D371624879F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8231752-3775-40AA-B3F4-03E1E6161A3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image" Target="../media/image10.jpeg"/><Relationship Id="rId3" Type="http://schemas.openxmlformats.org/officeDocument/2006/relationships/image" Target="../media/image11.jpeg"/><Relationship Id="rId4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6.jpeg"/><Relationship Id="rId2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7.jpeg"/><Relationship Id="rId2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8.jpeg"/><Relationship Id="rId2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3" descr="screenmain.jpg"/>
          <p:cNvPicPr/>
          <p:nvPr/>
        </p:nvPicPr>
        <p:blipFill>
          <a:blip r:embed="rId1"/>
          <a:stretch/>
        </p:blipFill>
        <p:spPr>
          <a:xfrm>
            <a:off x="-22680" y="-10800"/>
            <a:ext cx="9165960" cy="6903000"/>
          </a:xfrm>
          <a:prstGeom prst="rect">
            <a:avLst/>
          </a:prstGeom>
          <a:ln w="0">
            <a:noFill/>
          </a:ln>
        </p:spPr>
      </p:pic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85800" y="32860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The Secrets You Need To Know About Monetizing Video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0" y="6523920"/>
            <a:ext cx="914328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Picture 3" descr="screenmain.jpg"/>
          <p:cNvPicPr/>
          <p:nvPr/>
        </p:nvPicPr>
        <p:blipFill>
          <a:blip r:embed="rId1"/>
          <a:stretch/>
        </p:blipFill>
        <p:spPr>
          <a:xfrm>
            <a:off x="-22680" y="-10800"/>
            <a:ext cx="9165960" cy="6903000"/>
          </a:xfrm>
          <a:prstGeom prst="rect">
            <a:avLst/>
          </a:prstGeom>
          <a:ln w="0">
            <a:noFill/>
          </a:ln>
        </p:spPr>
      </p:pic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85800" y="293904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How to go viral with video.</a:t>
            </a:r>
            <a:br>
              <a:rPr sz="4400"/>
            </a:b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(Not.)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87" name="TextBox 4"/>
          <p:cNvSpPr/>
          <p:nvPr/>
        </p:nvSpPr>
        <p:spPr>
          <a:xfrm>
            <a:off x="0" y="6523920"/>
            <a:ext cx="914328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Picture 3" descr="catshark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90" name="TextBox 12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MISCONCEPTIONS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1" name="TextBox 13"/>
          <p:cNvSpPr/>
          <p:nvPr/>
        </p:nvSpPr>
        <p:spPr>
          <a:xfrm>
            <a:off x="1085040" y="1318320"/>
            <a:ext cx="7241040" cy="20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Coming up with content and shooting it is really really hard.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92" name="Rectangle 14"/>
          <p:cNvSpPr/>
          <p:nvPr/>
        </p:nvSpPr>
        <p:spPr>
          <a:xfrm>
            <a:off x="1732320" y="3026160"/>
            <a:ext cx="595224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3" name="Rectangle 15"/>
          <p:cNvSpPr/>
          <p:nvPr/>
        </p:nvSpPr>
        <p:spPr>
          <a:xfrm>
            <a:off x="1765080" y="4298760"/>
            <a:ext cx="553968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4" name="TextBox 6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nodeType="clickEffect" fill="hold" presetClass="entr" presetID="1">
                                  <p:stCondLst>
                                    <p:cond delay="0"/>
                                  </p:stCondLst>
                                  <p:endCondLst>
                                    <p:cond delay="0" evt="begin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">
                                  <p:stCondLst>
                                    <p:cond delay="0"/>
                                  </p:stCondLst>
                                  <p:endCondLst>
                                    <p:cond delay="0" evt="begin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96" name="TextBox 12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MISCONCEPTIONS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7" name="TextBox 13"/>
          <p:cNvSpPr/>
          <p:nvPr/>
        </p:nvSpPr>
        <p:spPr>
          <a:xfrm>
            <a:off x="1085040" y="1318320"/>
            <a:ext cx="7241040" cy="30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CONTENT &amp; QUALITY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When I upload a video, it goes viral 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and YouTube sends big checks.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98" name="Rectangle 14"/>
          <p:cNvSpPr/>
          <p:nvPr/>
        </p:nvSpPr>
        <p:spPr>
          <a:xfrm>
            <a:off x="1732320" y="3026160"/>
            <a:ext cx="595224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Rectangle 15"/>
          <p:cNvSpPr/>
          <p:nvPr/>
        </p:nvSpPr>
        <p:spPr>
          <a:xfrm>
            <a:off x="1765080" y="4298760"/>
            <a:ext cx="553968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TextBox 6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02" name="TextBox 12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MISCONCEPTIONS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3" name="TextBox 13"/>
          <p:cNvSpPr/>
          <p:nvPr/>
        </p:nvSpPr>
        <p:spPr>
          <a:xfrm>
            <a:off x="1085040" y="1318320"/>
            <a:ext cx="7241040" cy="350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CONTENT &amp; QUALITY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MONETIZATION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Live formats are cheapest, so they’re the best place to start.</a:t>
            </a: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104" name="Rectangle 14"/>
          <p:cNvSpPr/>
          <p:nvPr/>
        </p:nvSpPr>
        <p:spPr>
          <a:xfrm>
            <a:off x="1732320" y="3026160"/>
            <a:ext cx="595224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Rectangle 15"/>
          <p:cNvSpPr/>
          <p:nvPr/>
        </p:nvSpPr>
        <p:spPr>
          <a:xfrm>
            <a:off x="1765080" y="4298760"/>
            <a:ext cx="553968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TextBox 6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08" name="TextBox 12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MISCONCEPTIONS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9" name="TextBox 13"/>
          <p:cNvSpPr/>
          <p:nvPr/>
        </p:nvSpPr>
        <p:spPr>
          <a:xfrm>
            <a:off x="1085040" y="1318320"/>
            <a:ext cx="724104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CONTENT &amp; QUALITY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MONETIZATION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PLATFORM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10" name="Rectangle 14"/>
          <p:cNvSpPr/>
          <p:nvPr/>
        </p:nvSpPr>
        <p:spPr>
          <a:xfrm>
            <a:off x="1732320" y="3026160"/>
            <a:ext cx="595224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1" name="Rectangle 15"/>
          <p:cNvSpPr/>
          <p:nvPr/>
        </p:nvSpPr>
        <p:spPr>
          <a:xfrm>
            <a:off x="1765080" y="4298760"/>
            <a:ext cx="553968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TextBox 6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14" name="TextBox 11"/>
          <p:cNvSpPr/>
          <p:nvPr/>
        </p:nvSpPr>
        <p:spPr>
          <a:xfrm>
            <a:off x="781560" y="935640"/>
            <a:ext cx="7977600" cy="90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Content is KING.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Encourages engagement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Generates leads/sales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Adds value to product/service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Establishes authenticity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 u="sng">
                <a:solidFill>
                  <a:srgbClr val="000000"/>
                </a:solidFill>
                <a:uFillTx/>
                <a:latin typeface="Calibri"/>
                <a:ea typeface="DejaVu Sans"/>
              </a:rPr>
              <a:t>Ample </a:t>
            </a: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content increases traffic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Quality </a:t>
            </a:r>
            <a:r>
              <a:rPr b="0" i="1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may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be negotiable.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Record on non-professional devices.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“</a:t>
            </a: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Guidelines” can be trumped by content.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Quality reflects your brand.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CONTENT AND QUALITY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16" name="TextBox 4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5" dur="indefinite" restart="never" nodeType="tmRoot">
          <p:childTnLst>
            <p:seq>
              <p:cTn id="16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pic>
        <p:nvPicPr>
          <p:cNvPr id="118" name="Picture 4" descr="darren1.jpg"/>
          <p:cNvPicPr/>
          <p:nvPr/>
        </p:nvPicPr>
        <p:blipFill>
          <a:blip r:embed="rId2"/>
          <a:stretch/>
        </p:blipFill>
        <p:spPr>
          <a:xfrm>
            <a:off x="4738320" y="970560"/>
            <a:ext cx="4177080" cy="3199680"/>
          </a:xfrm>
          <a:prstGeom prst="rect">
            <a:avLst/>
          </a:prstGeom>
          <a:ln w="0">
            <a:noFill/>
          </a:ln>
        </p:spPr>
      </p:pic>
      <p:sp>
        <p:nvSpPr>
          <p:cNvPr id="119" name="TextBox 5"/>
          <p:cNvSpPr/>
          <p:nvPr/>
        </p:nvSpPr>
        <p:spPr>
          <a:xfrm>
            <a:off x="503280" y="4342320"/>
            <a:ext cx="8411760" cy="344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Close-up, hands on videos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Talking-head videos</a:t>
            </a: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3 videos/week – MWF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3-5 videos at a time</a:t>
            </a: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59k subs • 4.3 million views 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10k subs • 2.6 million views </a:t>
            </a: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583 videos, 10-12 minutes each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1,277 videos, 1-3 minutes each</a:t>
            </a: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Avg 3k-5k views, several 100k+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Avg &lt;200 views, several 200k+</a:t>
            </a: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HK" sz="2000" spc="-1" strike="noStrike">
              <a:latin typeface="Arial"/>
            </a:endParaRPr>
          </a:p>
        </p:txBody>
      </p:sp>
      <p:pic>
        <p:nvPicPr>
          <p:cNvPr id="120" name="Picture 7" descr="sandy1.jpg"/>
          <p:cNvPicPr/>
          <p:nvPr/>
        </p:nvPicPr>
        <p:blipFill>
          <a:blip r:embed="rId3"/>
          <a:stretch/>
        </p:blipFill>
        <p:spPr>
          <a:xfrm>
            <a:off x="503280" y="970560"/>
            <a:ext cx="4182120" cy="3199680"/>
          </a:xfrm>
          <a:prstGeom prst="rect">
            <a:avLst/>
          </a:prstGeom>
          <a:ln w="0">
            <a:noFill/>
          </a:ln>
        </p:spPr>
      </p:pic>
      <p:sp>
        <p:nvSpPr>
          <p:cNvPr id="121" name="TextBox 8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CONTENT AND QUALITY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22" name="TextBox 9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7" dur="indefinite" restart="never" nodeType="tmRoot">
          <p:childTnLst>
            <p:seq>
              <p:cTn id="58" dur="indefinite" nodeType="mainSeq">
                <p:childTnLst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24" name="TextBox 11"/>
          <p:cNvSpPr/>
          <p:nvPr/>
        </p:nvSpPr>
        <p:spPr>
          <a:xfrm>
            <a:off x="977040" y="1563120"/>
            <a:ext cx="7977600" cy="770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Making money with video alone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Ads – pre-, mid-, post-roll </a:t>
            </a:r>
            <a:endParaRPr b="0" lang="en-HK" sz="30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Sponsored videos</a:t>
            </a:r>
            <a:endParaRPr b="0" lang="en-HK" sz="30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Product placement</a:t>
            </a:r>
            <a:endParaRPr b="0" lang="en-HK" sz="3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0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Instead…think </a:t>
            </a:r>
            <a:r>
              <a:rPr b="0" lang="en-US" sz="6000" spc="-1" strike="noStrike">
                <a:solidFill>
                  <a:srgbClr val="000000"/>
                </a:solidFill>
                <a:latin typeface="Calibri"/>
                <a:ea typeface="DejaVu Sans"/>
              </a:rPr>
              <a:t>bigger</a:t>
            </a:r>
            <a:r>
              <a:rPr b="0" lang="en-US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.</a:t>
            </a:r>
            <a:endParaRPr b="0" lang="en-HK" sz="36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125" name="TextBox 3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MONETIZATION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26" name="TextBox 4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9" dur="indefinite" restart="never" nodeType="tmRoot">
          <p:childTnLst>
            <p:seq>
              <p:cTn id="80" dur="indefinite" nodeType="mainSeq">
                <p:childTnLst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28" name="TextBox 11"/>
          <p:cNvSpPr/>
          <p:nvPr/>
        </p:nvSpPr>
        <p:spPr>
          <a:xfrm>
            <a:off x="781560" y="935640"/>
            <a:ext cx="7977600" cy="10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Video monetization strategy should match your existing business strategy.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Promote </a:t>
            </a:r>
            <a:r>
              <a:rPr b="1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existing </a:t>
            </a: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monetized goods/services (products, online classes, affiliate marketing,  in-person seminars, books, etc.)</a:t>
            </a:r>
            <a:endParaRPr b="0" lang="en-HK" sz="3000" spc="-1" strike="noStrike">
              <a:latin typeface="Arial"/>
            </a:endParaRPr>
          </a:p>
          <a:p>
            <a:pPr lvl="1" marL="971640" indent="-5144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drive traffic, aid in conversion </a:t>
            </a:r>
            <a:endParaRPr b="0" lang="en-HK" sz="3000" spc="-1" strike="noStrike">
              <a:latin typeface="Arial"/>
            </a:endParaRPr>
          </a:p>
          <a:p>
            <a:pPr lvl="1" marL="971640" indent="-5144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add value for customers</a:t>
            </a:r>
            <a:endParaRPr b="0" lang="en-HK" sz="30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Add </a:t>
            </a:r>
            <a:r>
              <a:rPr b="1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video products </a:t>
            </a: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as well, if appropriate.</a:t>
            </a:r>
            <a:endParaRPr b="0" lang="en-HK" sz="3000" spc="-1" strike="noStrike">
              <a:latin typeface="Arial"/>
            </a:endParaRPr>
          </a:p>
          <a:p>
            <a:pPr lvl="1" marL="971640" indent="-5144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classes, webinars, etc.</a:t>
            </a:r>
            <a:endParaRPr b="0" lang="en-HK" sz="3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129" name="TextBox 3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MONETIZATION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30" name="TextBox 4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01" dur="indefinite" restart="never" nodeType="tmRoot">
          <p:childTnLst>
            <p:seq>
              <p:cTn id="102" dur="indefinite" nodeType="mainSeq">
                <p:childTnLst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32" name="TextBox 11"/>
          <p:cNvSpPr/>
          <p:nvPr/>
        </p:nvSpPr>
        <p:spPr>
          <a:xfrm>
            <a:off x="781560" y="935640"/>
            <a:ext cx="797760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Which Platform?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33" name="TextBox 3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PLATFORM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34" name="TextBox 4"/>
          <p:cNvSpPr/>
          <p:nvPr/>
        </p:nvSpPr>
        <p:spPr>
          <a:xfrm>
            <a:off x="781560" y="1520640"/>
            <a:ext cx="7977600" cy="69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RECORDED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LIVE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YouTube, Vimeo, etc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Periscope, FbLive, etc      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Higher quality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Lower quality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Ongoing interaction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Instant interaction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Clear traffic drivers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Complex traffic drivers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Searchable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Not discoverable  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Evergreen content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Fleeting content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Can become contrived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Seen as authentic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2800" spc="-1" strike="noStrike">
              <a:latin typeface="Arial"/>
            </a:endParaRPr>
          </a:p>
        </p:txBody>
      </p:sp>
      <p:sp>
        <p:nvSpPr>
          <p:cNvPr id="135" name="TextBox 6"/>
          <p:cNvSpPr/>
          <p:nvPr/>
        </p:nvSpPr>
        <p:spPr>
          <a:xfrm>
            <a:off x="781560" y="5468400"/>
            <a:ext cx="797760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Research: Where is my audience?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36" name="TextBox 7"/>
          <p:cNvSpPr/>
          <p:nvPr/>
        </p:nvSpPr>
        <p:spPr>
          <a:xfrm>
            <a:off x="0" y="65782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27" dur="indefinite" restart="never" nodeType="tmRoot">
          <p:childTnLst>
            <p:seq>
              <p:cTn id="128" dur="indefinite" nodeType="mainSeq">
                <p:childTnLst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3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EXAMPLES: ONLINE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39" name="TextBox 6"/>
          <p:cNvSpPr/>
          <p:nvPr/>
        </p:nvSpPr>
        <p:spPr>
          <a:xfrm>
            <a:off x="933840" y="1280880"/>
            <a:ext cx="7370280" cy="30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Sandy Allnock: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Products, Classes, Affiliate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Art tutorials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Related tutorials, BTS, Q&amp;A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40" name="TextBox 4"/>
          <p:cNvSpPr/>
          <p:nvPr/>
        </p:nvSpPr>
        <p:spPr>
          <a:xfrm>
            <a:off x="933840" y="3755880"/>
            <a:ext cx="783612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Darren LaCroix: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Classes, Speaking, Products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Speaking tips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Q&amp;A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41" name="TextBox 7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65" dur="indefinite" restart="never" nodeType="tmRoot">
          <p:childTnLst>
            <p:seq>
              <p:cTn id="166" dur="indefinite" nodeType="mainSeq">
                <p:childTnLst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43" name="TextBox 3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EXAMPLES: BRICK AND MORTAR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44" name="TextBox 6"/>
          <p:cNvSpPr/>
          <p:nvPr/>
        </p:nvSpPr>
        <p:spPr>
          <a:xfrm>
            <a:off x="933840" y="1280880"/>
            <a:ext cx="737028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Book Store: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In-store product sales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Interviews with authors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Broadcast poetry readings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45" name="TextBox 4"/>
          <p:cNvSpPr/>
          <p:nvPr/>
        </p:nvSpPr>
        <p:spPr>
          <a:xfrm>
            <a:off x="933840" y="3755880"/>
            <a:ext cx="783612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Hair Salon: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Clients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How to style hair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Techniques – before/mid/after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46" name="TextBox 7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99" dur="indefinite" restart="never" nodeType="tmRoot">
          <p:childTnLst>
            <p:seq>
              <p:cTn id="200" dur="indefinite" nodeType="mainSeq">
                <p:childTnLst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3" fill="hold">
                      <p:stCondLst>
                        <p:cond delay="indefinite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id="21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7" fill="hold">
                      <p:stCondLst>
                        <p:cond delay="indefinite"/>
                      </p:stCondLst>
                      <p:childTnLst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delay="indefinite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5" fill="hold">
                      <p:stCondLst>
                        <p:cond delay="indefinite"/>
                      </p:stCondLst>
                      <p:childTnLst>
                        <p:par>
                          <p:cTn id="226" fill="hold">
                            <p:stCondLst>
                              <p:cond delay="0"/>
                            </p:stCondLst>
                            <p:childTnLst>
                              <p:par>
                                <p:cTn id="22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48" name="TextBox 3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EXAMPLES: SERVICES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49" name="TextBox 6"/>
          <p:cNvSpPr/>
          <p:nvPr/>
        </p:nvSpPr>
        <p:spPr>
          <a:xfrm>
            <a:off x="933840" y="1280880"/>
            <a:ext cx="737028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Business Coach: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Coaching sessions, classes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Staffing tips 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Motivational chats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50" name="TextBox 4"/>
          <p:cNvSpPr/>
          <p:nvPr/>
        </p:nvSpPr>
        <p:spPr>
          <a:xfrm>
            <a:off x="933840" y="3755880"/>
            <a:ext cx="7836120" cy="20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Realtor: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Selling hoeuses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Tips on selling a home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Currently available homes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51" name="TextBox 5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33" dur="indefinite" restart="never" nodeType="tmRoot">
          <p:childTnLst>
            <p:seq>
              <p:cTn id="234" dur="indefinite" nodeType="mainSeq">
                <p:childTnLst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7" fill="hold">
                      <p:stCondLst>
                        <p:cond delay="indefinite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5" fill="hold">
                      <p:stCondLst>
                        <p:cond delay="indefinite"/>
                      </p:stCondLst>
                      <p:childTnLst>
                        <p:par>
                          <p:cTn id="256" fill="hold">
                            <p:stCondLst>
                              <p:cond delay="0"/>
                            </p:stCondLst>
                            <p:childTnLst>
                              <p:par>
                                <p:cTn id="25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3" fill="hold">
                      <p:stCondLst>
                        <p:cond delay="indefinite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53" name="TextBox 3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BRAINSTORM YOUR PLAN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54" name="TextBox 6"/>
          <p:cNvSpPr/>
          <p:nvPr/>
        </p:nvSpPr>
        <p:spPr>
          <a:xfrm>
            <a:off x="972000" y="1920960"/>
            <a:ext cx="7652160" cy="508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The 3 Best Questions to Start a Plan:</a:t>
            </a: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What questions do </a:t>
            </a:r>
            <a:r>
              <a:rPr b="0" lang="en-US" sz="2800" spc="-1" strike="noStrike" u="sng">
                <a:solidFill>
                  <a:srgbClr val="000000"/>
                </a:solidFill>
                <a:uFillTx/>
                <a:latin typeface="Calibri"/>
                <a:ea typeface="DejaVu Sans"/>
              </a:rPr>
              <a:t>my customers 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ask most?</a:t>
            </a:r>
            <a:endParaRPr b="0" lang="en-HK" sz="28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What aspect am I </a:t>
            </a:r>
            <a:r>
              <a:rPr b="0" lang="en-US" sz="2800" spc="-1" strike="noStrike" u="sng">
                <a:solidFill>
                  <a:srgbClr val="000000"/>
                </a:solidFill>
                <a:uFillTx/>
                <a:latin typeface="Calibri"/>
                <a:ea typeface="DejaVu Sans"/>
              </a:rPr>
              <a:t>most passionate 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about?</a:t>
            </a:r>
            <a:endParaRPr b="0" lang="en-HK" sz="28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What can I commit to </a:t>
            </a:r>
            <a:r>
              <a:rPr b="0" lang="en-US" sz="2800" spc="-1" strike="noStrike" u="sng">
                <a:solidFill>
                  <a:srgbClr val="000000"/>
                </a:solidFill>
                <a:uFillTx/>
                <a:latin typeface="Calibri"/>
                <a:ea typeface="DejaVu Sans"/>
              </a:rPr>
              <a:t>this quarter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?</a:t>
            </a:r>
            <a:endParaRPr b="0" lang="en-HK" sz="28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28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155" name="TextBox 5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67" dur="indefinite" restart="never" nodeType="tmRoot">
          <p:childTnLst>
            <p:seq>
              <p:cTn id="268" dur="indefinite" nodeType="mainSeq">
                <p:childTnLst>
                  <p:par>
                    <p:cTn id="269" fill="hold">
                      <p:stCondLst>
                        <p:cond delay="indefinite"/>
                      </p:stCondLst>
                      <p:childTnLst>
                        <p:par>
                          <p:cTn id="270" fill="hold">
                            <p:stCondLst>
                              <p:cond delay="0"/>
                            </p:stCondLst>
                            <p:childTnLst>
                              <p:par>
                                <p:cTn id="27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3" fill="hold">
                      <p:stCondLst>
                        <p:cond delay="indefinite"/>
                      </p:stCondLst>
                      <p:childTnLst>
                        <p:par>
                          <p:cTn id="274" fill="hold">
                            <p:stCondLst>
                              <p:cond delay="0"/>
                            </p:stCondLst>
                            <p:childTnLst>
                              <p:par>
                                <p:cTn id="27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7" fill="hold">
                      <p:stCondLst>
                        <p:cond delay="indefinite"/>
                      </p:stCondLst>
                      <p:childTnLst>
                        <p:par>
                          <p:cTn id="278" fill="hold">
                            <p:stCondLst>
                              <p:cond delay="0"/>
                            </p:stCondLst>
                            <p:childTnLst>
                              <p:par>
                                <p:cTn id="27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1" fill="hold">
                      <p:stCondLst>
                        <p:cond delay="indefinite"/>
                      </p:stCondLst>
                      <p:childTnLst>
                        <p:par>
                          <p:cTn id="282" fill="hold">
                            <p:stCondLst>
                              <p:cond delay="0"/>
                            </p:stCondLst>
                            <p:childTnLst>
                              <p:par>
                                <p:cTn id="2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57" name="TextBox 11"/>
          <p:cNvSpPr/>
          <p:nvPr/>
        </p:nvSpPr>
        <p:spPr>
          <a:xfrm>
            <a:off x="0" y="2366640"/>
            <a:ext cx="9143280" cy="24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  <a:ea typeface="DejaVu Sans"/>
              </a:rPr>
              <a:t>sandyallnock.com/wakeup4wealth</a:t>
            </a:r>
            <a:endParaRPr b="0" lang="en-HK" sz="4400" spc="-1" strike="noStrike">
              <a:latin typeface="Arial"/>
            </a:endParaRPr>
          </a:p>
          <a:p>
            <a:pPr marL="457200" indent="-45720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6600" spc="-1" strike="noStrike">
                <a:solidFill>
                  <a:srgbClr val="000000"/>
                </a:solidFill>
                <a:latin typeface="Calibri"/>
                <a:ea typeface="DejaVu Sans"/>
              </a:rPr>
              <a:t>Q&amp;A</a:t>
            </a:r>
            <a:endParaRPr b="0" lang="en-HK" sz="6600" spc="-1" strike="noStrike">
              <a:latin typeface="Arial"/>
            </a:endParaRPr>
          </a:p>
        </p:txBody>
      </p:sp>
      <p:sp>
        <p:nvSpPr>
          <p:cNvPr id="158" name="TextBox 6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1589</TotalTime>
  <Application>LibreOffice/7.3.7.2$Linux_X86_64 LibreOffice_project/30$Build-2</Application>
  <AppVersion>15.0000</AppVersion>
  <Words>710</Words>
  <Paragraphs>129</Paragraphs>
  <Company>Operation Write Home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2016-12-02T00:37:13Z</dcterms:created>
  <dc:creator>Sandy Allnock</dc:creator>
  <dc:description/>
  <dc:language>en-HK</dc:language>
  <cp:lastModifiedBy>Sandy Allnock</cp:lastModifiedBy>
  <dcterms:modified xsi:type="dcterms:W3CDTF">2016-12-02T00:38:42Z</dcterms:modified>
  <cp:revision>14</cp:revision>
  <dc:subject/>
  <dc:title>Video and you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17</vt:i4>
  </property>
</Properties>
</file>