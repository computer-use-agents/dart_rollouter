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1.xml" ContentType="application/vnd.openxmlformats-officedocument.presentationml.notesSlide+xml"/>
  <Override PartName="/ppt/_rels/presentation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dt" idx="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ftr" idx="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66" name="PlaceHolder 6"/>
          <p:cNvSpPr>
            <a:spLocks noGrp="1"/>
          </p:cNvSpPr>
          <p:nvPr>
            <p:ph type="sldNum" idx="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DA6EEF3A-5FF4-494D-AAC0-2AAF95D4E3C0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100" spc="-1" strike="noStrike">
                <a:highlight>
                  <a:srgbClr val="000000"/>
                </a:highlight>
                <a:latin typeface="Arial"/>
                <a:ea typeface="Arial"/>
              </a:rPr>
              <a:t>Hey, is this style double spaced or single spaced? Or is the title page single spaced??</a:t>
            </a:r>
            <a:endParaRPr b="0" lang="en-HK" sz="1100" spc="-1" strike="noStrike"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100" spc="-1" strike="noStrike">
                <a:highlight>
                  <a:srgbClr val="000000"/>
                </a:highlight>
                <a:latin typeface="Arial"/>
                <a:ea typeface="Arial"/>
              </a:rPr>
              <a:t>Is primary the same as first? Use consistent language</a:t>
            </a:r>
            <a:endParaRPr b="0" lang="en-HK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100" spc="-1" strike="noStrike">
                <a:highlight>
                  <a:srgbClr val="000000"/>
                </a:highlight>
                <a:latin typeface="Arial"/>
                <a:ea typeface="Arial"/>
              </a:rPr>
              <a:t>Two lines single or double spaced? </a:t>
            </a:r>
            <a:endParaRPr b="0" lang="en-HK" sz="1100" spc="-1" strike="noStrike"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100" spc="-1" strike="noStrike">
                <a:highlight>
                  <a:srgbClr val="000000"/>
                </a:highlight>
                <a:latin typeface="Arial"/>
                <a:ea typeface="Arial"/>
              </a:rPr>
              <a:t>The Multiple authors part is a little confusing</a:t>
            </a:r>
            <a:endParaRPr b="0" lang="en-HK" sz="1100" spc="-1" strike="noStrike"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4E3C5AE-CB42-4983-990C-B24FF2E755A7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A94E014-371C-46C5-A956-4E5DD76E791E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DB14B61-F457-4322-B20E-10EC07A93790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BE6B0AF-4899-43A5-B8F9-10087AA186CC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2EA43A2-6EBF-47D9-844C-9A2E514D3187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311760" y="391320"/>
            <a:ext cx="8519760" cy="28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05911DB-C1D2-402D-AB9D-8738BEAD5097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7E77E96-50EE-4179-BB78-4E8E84D3468C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3172E68-7D56-4993-924F-DEF976C7CAD0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BE8F783-4151-4C4F-93CE-01C8F6D74D31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FB043A2-0265-4107-9E10-DC574508DAEB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FEB8FC0-86DA-43C3-8D37-77A7364DB796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19248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7320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31176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19248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7320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285D9C6-6499-43D0-98B2-E1A3F2AAE8A0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ECBA75-B74F-4458-96C6-D5EA2A59DBFC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5B0EBA-075B-4057-8296-246F6769F185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148D7B-BD7D-4831-B6E2-6C6D38FC2DF6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4B5057-7B83-43B9-882B-D8150A4E3F90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4C21C8-1963-41AC-AB0B-F1192C15195A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ubTitle"/>
          </p:nvPr>
        </p:nvSpPr>
        <p:spPr>
          <a:xfrm>
            <a:off x="311760" y="391320"/>
            <a:ext cx="8519760" cy="28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94628F-D9A9-4B7D-9C45-F34F74BAAA46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4AE1CC-1BEA-4A66-8519-1D3D8B3BA2DD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8EF091-E313-4FEE-B61B-539EF28B8A66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6AA851-6735-4175-90C6-BDCA17A40A7C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28D3C6-68DE-4125-A577-F31BD1917D23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0B1678-3BF4-4D79-9B44-1450029CCC07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319248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607320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31176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/>
          </p:nvPr>
        </p:nvSpPr>
        <p:spPr>
          <a:xfrm>
            <a:off x="319248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7"/>
          <p:cNvSpPr>
            <a:spLocks noGrp="1"/>
          </p:cNvSpPr>
          <p:nvPr>
            <p:ph/>
          </p:nvPr>
        </p:nvSpPr>
        <p:spPr>
          <a:xfrm>
            <a:off x="607320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5A165D-818D-40A9-B7E8-8E26CDC0A389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578AC8E-CFBB-48C1-8501-B1FE4FB25E77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6C85F85-A94D-440B-8A4E-CF17D5BBF759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FE13DB6-30EB-41B1-97F6-352049565754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38FA611-0FC0-4C3E-A319-A6830B9C9029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AE9347C-5322-40EC-B61C-AC17C9F510D1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ubTitle"/>
          </p:nvPr>
        </p:nvSpPr>
        <p:spPr>
          <a:xfrm>
            <a:off x="311760" y="391320"/>
            <a:ext cx="8519760" cy="28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0453DD6-67BC-45D7-845D-47C572F64B9C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7A9878A-5596-40E4-B260-955F3B0305B7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D35CB92-1B5B-4ECF-88E8-B80B0FF3ABF4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BB5AED-E642-4681-A7C4-B85AFE7F52DF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D33BC3B-39E6-4D70-AECC-549748BDCE4F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BF1C44C-C6C8-4E3F-9CF2-B072DF5D2084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319248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607320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/>
          </p:nvPr>
        </p:nvSpPr>
        <p:spPr>
          <a:xfrm>
            <a:off x="31176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/>
          </p:nvPr>
        </p:nvSpPr>
        <p:spPr>
          <a:xfrm>
            <a:off x="319248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7"/>
          <p:cNvSpPr>
            <a:spLocks noGrp="1"/>
          </p:cNvSpPr>
          <p:nvPr>
            <p:ph/>
          </p:nvPr>
        </p:nvSpPr>
        <p:spPr>
          <a:xfrm>
            <a:off x="607320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1B0C1A7-8062-44DE-B6B8-1320460CC6C5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E782FCE0-0E4A-40E9-ABAB-C77E9297E9F7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A7C20B2-23BA-4A4C-8BA0-756197BD1F0A}" type="slidenum">
              <a:t>&lt;#&gt;</a:t>
            </a:fld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E953D60-6CE8-4A8E-91F8-E480087EE154}" type="slidenum">
              <a:t>&lt;#&gt;</a:t>
            </a:fld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6F74ADC-B3EE-445C-B138-A4581B40C742}" type="slidenum">
              <a:t>&lt;#&gt;</a:t>
            </a:fld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BEBC4E1-C9DC-4ED6-9CF5-9E27B1D0E43A}" type="slidenum">
              <a:t>&lt;#&gt;</a:t>
            </a:fld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311760" y="391320"/>
            <a:ext cx="8519760" cy="28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E811518B-B304-48BB-977F-0E3B3AEA3128}" type="slidenum">
              <a:t>&lt;#&gt;</a:t>
            </a:fld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064C428-E9C9-4D01-8056-93D0F3FEBE4F}" type="slidenum">
              <a:t>&lt;#&gt;</a:t>
            </a:fld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2F31470-0160-47A4-BC37-375B54430EBF}" type="slidenum">
              <a:t>&lt;#&gt;</a:t>
            </a:fld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95C73F4E-E087-4FF1-AEF4-A63ED54A1C58}" type="slidenum">
              <a:t>&lt;#&gt;</a:t>
            </a:fld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5FC36338-2121-48DA-BAA7-C7B25F22C46D}" type="slidenum">
              <a:t>&lt;#&gt;</a:t>
            </a:fld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8F454EC-CF46-48A2-8E35-205FB06A962F}" type="slidenum">
              <a:t>&lt;#&gt;</a:t>
            </a:fld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19248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73200" y="115236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31176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19248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73200" y="2936520"/>
            <a:ext cx="2743200" cy="162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2A6B446-0180-4EB3-B09E-F5CC247E915D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10;p16"/>
          <p:cNvSpPr/>
          <p:nvPr/>
        </p:nvSpPr>
        <p:spPr>
          <a:xfrm>
            <a:off x="2748960" y="748800"/>
            <a:ext cx="3645360" cy="364536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" name="Google Shape;11;p16"/>
          <p:cNvSpPr/>
          <p:nvPr/>
        </p:nvSpPr>
        <p:spPr>
          <a:xfrm>
            <a:off x="2993040" y="992880"/>
            <a:ext cx="3157560" cy="3157560"/>
          </a:xfrm>
          <a:prstGeom prst="rect">
            <a:avLst/>
          </a:prstGeom>
          <a:noFill/>
          <a:ln w="28575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c9211e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B4B6A367-D451-4757-AD6D-D9B62BBE012E}" type="slidenum">
              <a:rPr b="0" lang="en" sz="1000" spc="-1" strike="noStrike">
                <a:solidFill>
                  <a:srgbClr val="c9211e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solidFill>
                <a:srgbClr val="c9211e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HK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HK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HK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76;p18"/>
          <p:cNvSpPr/>
          <p:nvPr/>
        </p:nvSpPr>
        <p:spPr>
          <a:xfrm>
            <a:off x="0" y="5045760"/>
            <a:ext cx="9143280" cy="972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000000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DC8126DD-D292-457F-A5A9-AC380DE12B0A}" type="slidenum">
              <a:rPr b="0" lang="en" sz="1000" spc="-1" strike="noStrike">
                <a:solidFill>
                  <a:srgbClr val="000000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141;p20"/>
          <p:cNvSpPr/>
          <p:nvPr/>
        </p:nvSpPr>
        <p:spPr>
          <a:xfrm>
            <a:off x="0" y="5045760"/>
            <a:ext cx="9143280" cy="972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PlaceHolder 1"/>
          <p:cNvSpPr>
            <a:spLocks noGrp="1"/>
          </p:cNvSpPr>
          <p:nvPr>
            <p:ph type="sldNum" idx="3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000000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86100B67-4CCF-4BA1-9AC0-3122684FBD45}" type="slidenum">
              <a:rPr b="0" lang="en" sz="1000" spc="-1" strike="noStrike">
                <a:solidFill>
                  <a:srgbClr val="000000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HK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HK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HK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4"/>
          <p:cNvSpPr>
            <a:spLocks noGrp="1"/>
          </p:cNvSpPr>
          <p:nvPr>
            <p:ph type="sldNum" idx="4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000000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C7AE153A-4E24-46CA-A6DF-A61A56966992}" type="slidenum">
              <a:rPr b="0" lang="en" sz="1000" spc="-1" strike="noStrike">
                <a:solidFill>
                  <a:srgbClr val="000000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https://documents.saa.org/container/docs/default-source/doc-publications/style-guide/saa-style-guide_updated-july-2018c5062f7e55154959ab57564384bda7de.pdf?sfvrsn=8247640e_6" TargetMode="External"/><Relationship Id="rId2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3096360" y="1627200"/>
            <a:ext cx="2950560" cy="15836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fffff"/>
                </a:solidFill>
                <a:latin typeface="Lato"/>
                <a:ea typeface="Lato"/>
              </a:rPr>
              <a:t>SAA Format Guide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subTitle"/>
          </p:nvPr>
        </p:nvSpPr>
        <p:spPr>
          <a:xfrm>
            <a:off x="3096360" y="3267000"/>
            <a:ext cx="2950560" cy="700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800" spc="-1" strike="noStrike">
                <a:solidFill>
                  <a:srgbClr val="ffffff"/>
                </a:solidFill>
                <a:latin typeface="Playfair Display"/>
                <a:ea typeface="Playfair Display"/>
              </a:rPr>
              <a:t>FHSS Writing Lab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8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6F082985-0139-4316-8F66-438DC8949201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Title Page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marL="457200" indent="-343080">
              <a:lnSpc>
                <a:spcPct val="15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Title of work in all caps, bolded, and centered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5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Author(s)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5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The words “DO NOT CITE IN ANY CONTEXT WITHOUT PERMISSION OF THE AUTHOR(S)” in all caps, unbolded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5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Authors’ affiliations, flush left, author bolded with a colon separating authors’ name and affiliation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9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9B01B3F4-B262-42E8-A95D-6C66DE7F8367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288;p3" descr=""/>
          <p:cNvPicPr/>
          <p:nvPr/>
        </p:nvPicPr>
        <p:blipFill>
          <a:blip r:embed="rId1"/>
          <a:stretch/>
        </p:blipFill>
        <p:spPr>
          <a:xfrm>
            <a:off x="2492280" y="152280"/>
            <a:ext cx="4158720" cy="4838040"/>
          </a:xfrm>
          <a:prstGeom prst="rect">
            <a:avLst/>
          </a:prstGeom>
          <a:ln w="9525">
            <a:solidFill>
              <a:srgbClr val="5e696c"/>
            </a:solidFill>
            <a:round/>
          </a:ln>
        </p:spPr>
      </p:pic>
      <p:sp>
        <p:nvSpPr>
          <p:cNvPr id="174" name="Google Shape;289;p3"/>
          <p:cNvSpPr/>
          <p:nvPr/>
        </p:nvSpPr>
        <p:spPr>
          <a:xfrm>
            <a:off x="205200" y="1104840"/>
            <a:ext cx="2508840" cy="58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5e69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295200" bIns="2952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Lato"/>
                <a:ea typeface="Lato"/>
              </a:rPr>
              <a:t>Title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75" name="Google Shape;290;p3"/>
          <p:cNvSpPr/>
          <p:nvPr/>
        </p:nvSpPr>
        <p:spPr>
          <a:xfrm>
            <a:off x="205200" y="1694880"/>
            <a:ext cx="2508840" cy="58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5e69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295200" bIns="2952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Lato"/>
                <a:ea typeface="Lato"/>
              </a:rPr>
              <a:t>Author(s)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76" name="Google Shape;291;p3"/>
          <p:cNvSpPr/>
          <p:nvPr/>
        </p:nvSpPr>
        <p:spPr>
          <a:xfrm>
            <a:off x="205200" y="2611080"/>
            <a:ext cx="2508840" cy="58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5e69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295200" bIns="2952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Lato"/>
                <a:ea typeface="Lato"/>
              </a:rPr>
              <a:t>These words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77" name="Google Shape;292;p3"/>
          <p:cNvSpPr/>
          <p:nvPr/>
        </p:nvSpPr>
        <p:spPr>
          <a:xfrm>
            <a:off x="205200" y="3745440"/>
            <a:ext cx="2508840" cy="58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5e69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295200" bIns="2952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Lato"/>
                <a:ea typeface="Lato"/>
              </a:rPr>
              <a:t>Affiliation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sldNum" idx="10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9DE86441-0786-4264-BF0C-B7BCF9D4715E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Headings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marL="457200" indent="-343080">
              <a:lnSpc>
                <a:spcPct val="115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First level headings should be centered, bolded, title case capitalization, and a single line of space above and below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Second level headings are flush left, italicized, title case capitalization, and with a single line of space above and below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Third level headings are part of the paragraph, with an indent, italicized, title case capitalization, and followed by a period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e696c"/>
              </a:buClr>
              <a:buFont typeface="Lato"/>
              <a:buChar char="○"/>
            </a:pPr>
            <a:r>
              <a:rPr b="0" lang="en" sz="1400" spc="-1" strike="noStrike">
                <a:solidFill>
                  <a:srgbClr val="5e696c"/>
                </a:solidFill>
                <a:latin typeface="Lato"/>
                <a:ea typeface="Lato"/>
              </a:rPr>
              <a:t>The text immediately follows this period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Do not use “INTRODUCTION” or “ABSTRACT” as headings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e696c"/>
              </a:buClr>
              <a:buFont typeface="Lato"/>
              <a:buChar char="●"/>
            </a:pPr>
            <a:r>
              <a:rPr b="1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References Cited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 is a primary-level heading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11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EB9F6F34-70DA-4A72-B2AD-5C7F31A05C52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305;p5" descr=""/>
          <p:cNvPicPr/>
          <p:nvPr/>
        </p:nvPicPr>
        <p:blipFill>
          <a:blip r:embed="rId1"/>
          <a:stretch/>
        </p:blipFill>
        <p:spPr>
          <a:xfrm>
            <a:off x="1215720" y="397080"/>
            <a:ext cx="3303000" cy="4348800"/>
          </a:xfrm>
          <a:prstGeom prst="rect">
            <a:avLst/>
          </a:prstGeom>
          <a:ln w="9525">
            <a:solidFill>
              <a:srgbClr val="5e696c"/>
            </a:solidFill>
            <a:round/>
          </a:ln>
        </p:spPr>
      </p:pic>
      <p:pic>
        <p:nvPicPr>
          <p:cNvPr id="183" name="Google Shape;306;p5" descr=""/>
          <p:cNvPicPr/>
          <p:nvPr/>
        </p:nvPicPr>
        <p:blipFill>
          <a:blip r:embed="rId2"/>
          <a:stretch/>
        </p:blipFill>
        <p:spPr>
          <a:xfrm>
            <a:off x="4821480" y="397080"/>
            <a:ext cx="3601800" cy="4348800"/>
          </a:xfrm>
          <a:prstGeom prst="rect">
            <a:avLst/>
          </a:prstGeom>
          <a:ln w="9525">
            <a:solidFill>
              <a:srgbClr val="5e696c"/>
            </a:solidFill>
            <a:round/>
          </a:ln>
        </p:spPr>
      </p:pic>
      <p:sp>
        <p:nvSpPr>
          <p:cNvPr id="184" name="Google Shape;307;p5"/>
          <p:cNvSpPr/>
          <p:nvPr/>
        </p:nvSpPr>
        <p:spPr>
          <a:xfrm>
            <a:off x="63000" y="1643040"/>
            <a:ext cx="1843920" cy="58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5e69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295200" bIns="2952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Lato"/>
                <a:ea typeface="Lato"/>
              </a:rPr>
              <a:t>First level heading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85" name="Google Shape;308;p5"/>
          <p:cNvSpPr/>
          <p:nvPr/>
        </p:nvSpPr>
        <p:spPr>
          <a:xfrm flipH="1">
            <a:off x="7097760" y="947520"/>
            <a:ext cx="1996560" cy="58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5e69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295200" bIns="2952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Lato"/>
                <a:ea typeface="Lato"/>
              </a:rPr>
              <a:t>Second level heading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86" name="Google Shape;309;p5"/>
          <p:cNvSpPr/>
          <p:nvPr/>
        </p:nvSpPr>
        <p:spPr>
          <a:xfrm flipH="1">
            <a:off x="7097760" y="3145320"/>
            <a:ext cx="1996560" cy="58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5e69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295200" bIns="2952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Lato"/>
                <a:ea typeface="Lato"/>
              </a:rPr>
              <a:t>Third level heading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sldNum" idx="12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5220C3FF-85D5-4276-8A00-6D4958BA758A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Numbers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marL="457200" indent="-343080">
              <a:lnSpc>
                <a:spcPct val="115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All numbers above nine use numerals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Spell out numbers zero through nine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Spell out any numbers at the beginning of the sentence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Spell out numbers that are used in a general sense (not an actual number)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○"/>
            </a:pPr>
            <a:r>
              <a:rPr b="0" lang="en" sz="1400" spc="-1" strike="noStrike">
                <a:solidFill>
                  <a:srgbClr val="5e696c"/>
                </a:solidFill>
                <a:latin typeface="Lato"/>
                <a:ea typeface="Lato"/>
              </a:rPr>
              <a:t>Example: The archeologists recovered several hundred shards.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Ordinal numbers are always spelled out (i.e. seventh cycle, eighteenth century)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13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ADFDD146-1C49-4523-AA88-DEF23425E1B9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Italics/Quotations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399924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Italics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599"/>
              </a:spcBef>
              <a:buClr>
                <a:srgbClr val="5e696c"/>
              </a:buClr>
              <a:buFont typeface="Lato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Words in languages other than primary language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Titles of books, journals, etc., when mentioned in the text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4832280" y="1152360"/>
            <a:ext cx="399924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Quotation Marks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599"/>
              </a:spcBef>
              <a:buClr>
                <a:srgbClr val="5e696c"/>
              </a:buClr>
              <a:buFont typeface="Lato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When using direct quotes of four lines or less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Article titles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sldNum" idx="14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ED422BB4-C72D-447B-AEB3-07CBCB74CE4F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In-Text Citations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marL="457200" indent="-343080">
              <a:lnSpc>
                <a:spcPct val="115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Basic Format: (Last Name Year: page #) OR Last Name (Year: page #)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○"/>
            </a:pPr>
            <a:r>
              <a:rPr b="0" lang="en" sz="1400" spc="-1" strike="noStrike">
                <a:solidFill>
                  <a:srgbClr val="5e696c"/>
                </a:solidFill>
                <a:latin typeface="Lato"/>
                <a:ea typeface="Lato"/>
              </a:rPr>
              <a:t>Example: (Larson 2020: 13) / Larson (2020: 13)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Multiple pages (Last Name Year: #-#)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○"/>
            </a:pPr>
            <a:r>
              <a:rPr b="0" lang="en" sz="1400" spc="-1" strike="noStrike">
                <a:solidFill>
                  <a:srgbClr val="5e696c"/>
                </a:solidFill>
                <a:latin typeface="Lato"/>
                <a:ea typeface="Lato"/>
              </a:rPr>
              <a:t>Example: (Kindt 2020: 116-137) / Kindt (2020: 116-137)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Two Authors (Last Name and Last Name Year: page #)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○"/>
            </a:pPr>
            <a:r>
              <a:rPr b="0" lang="en" sz="1400" spc="-1" strike="noStrike">
                <a:solidFill>
                  <a:srgbClr val="5e696c"/>
                </a:solidFill>
                <a:latin typeface="Lato"/>
                <a:ea typeface="Lato"/>
              </a:rPr>
              <a:t>Example: (Reese and Hilton 2019: 36) / Reese and Hilton (2019:36)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15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9FDA8310-C058-4421-AF2A-8D75B09B71F2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In-Text Citations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marL="457200" indent="-343080">
              <a:lnSpc>
                <a:spcPct val="115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Three Authors + (Last Name et al. Year: page #)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○"/>
            </a:pPr>
            <a:r>
              <a:rPr b="0" lang="en" sz="1400" spc="-1" strike="noStrike">
                <a:solidFill>
                  <a:srgbClr val="5e696c"/>
                </a:solidFill>
                <a:latin typeface="Lato"/>
                <a:ea typeface="Lato"/>
              </a:rPr>
              <a:t>Example: (Cass et al. 2018: 197) / Cass and others (2018: 197) ***Do not use et al. in text***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Separate the use of multiple citations with a semicolon (;)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○"/>
            </a:pPr>
            <a:r>
              <a:rPr b="0" lang="en" sz="1400" spc="-1" strike="noStrike">
                <a:solidFill>
                  <a:srgbClr val="5e696c"/>
                </a:solidFill>
                <a:latin typeface="Lato"/>
                <a:ea typeface="Lato"/>
              </a:rPr>
              <a:t>Example: (Pyper and Day 2020: 187; Nuccitelli and Judge 2020: 23</a:t>
            </a:r>
            <a:endParaRPr b="0" lang="en-HK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001"/>
              </a:spcBef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Page numbers are unnecessary unless using a direct quote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16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296CEA94-035C-4126-B3CF-33EC73D0B0DE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References Cited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311760" y="94608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marL="457200" indent="-343080">
              <a:lnSpc>
                <a:spcPct val="20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Titled “References Cited” bolded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20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Alphabetized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20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Primary level heading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20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All references cited must be in the References Cited page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20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No unused references should be included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20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Double spaced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200000"/>
              </a:lnSpc>
              <a:buClr>
                <a:srgbClr val="5e696c"/>
              </a:buClr>
              <a:buFont typeface="Lato"/>
              <a:buChar char="●"/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Additional space between each citation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  <a:buNone/>
              <a:tabLst>
                <a:tab algn="l" pos="0"/>
              </a:tabLst>
            </a:pP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17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3E2CD761-BAB3-46EE-A684-BBAEA9A1EAA5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Book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Format: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Last Name, First Name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	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Year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	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 </a:t>
            </a:r>
            <a:r>
              <a:rPr b="0" i="1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Title in Italics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. Publisher, Publication Place.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Example: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Cusworth, Zack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	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2020 </a:t>
            </a:r>
            <a:r>
              <a:rPr b="0" i="1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The Effects on Education on Gender. 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Barnacle Press, Denver, Colorado.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Multiple Authors: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Cusworth Zack, and Angela Stout, (and First Name Last Name)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(only the first author is last name, first name. Every other is first name last name) 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18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4E0A8142-9A91-4158-90B9-823299EA6871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Online Journal Article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Format: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Last Name, First Name 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Year Title. </a:t>
            </a:r>
            <a:r>
              <a:rPr b="0" i="1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Journal Title in Italics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 volume#(issue#): ##-##. DOI:0000000000, accessed date.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Example: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Cusworth, Zack 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2018 Disney and Gender. </a:t>
            </a:r>
            <a:r>
              <a:rPr b="0" i="1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Family 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45(6): 33-42. DOI:000000, accessed July 26, 2019.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19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314E4DB6-62B7-49B3-B0C3-85F8800A5895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Web Pages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66628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Format: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Last Name, First Name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	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Year Title of Site. Electronic document, URL, accessed date month, day, year.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Example: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Cusworth, Zack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	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2017 Information on IEP. Electronic document, 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	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http://www.thisdoesnotmatter.com/987987987987098, accessed April 15, 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	</a:t>
            </a:r>
            <a:r>
              <a:rPr b="0" lang="en" sz="1800" spc="-1" strike="noStrike">
                <a:solidFill>
                  <a:srgbClr val="5e696c"/>
                </a:solidFill>
                <a:latin typeface="Lato"/>
                <a:ea typeface="Lato"/>
              </a:rPr>
              <a:t>2019.</a:t>
            </a: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endParaRPr b="0" lang="en-HK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20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50F98CFE-5E4F-4845-84B2-69E31F9F20EF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372;p14"/>
          <p:cNvSpPr/>
          <p:nvPr/>
        </p:nvSpPr>
        <p:spPr>
          <a:xfrm>
            <a:off x="128880" y="1094040"/>
            <a:ext cx="1534680" cy="394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5e69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7280" bIns="19728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Lato"/>
                <a:ea typeface="Lato"/>
              </a:rPr>
              <a:t>Book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214" name="Google Shape;373;p14"/>
          <p:cNvSpPr/>
          <p:nvPr/>
        </p:nvSpPr>
        <p:spPr>
          <a:xfrm>
            <a:off x="128880" y="1974960"/>
            <a:ext cx="1534680" cy="394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5e69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7280" bIns="19728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Lato"/>
                <a:ea typeface="Lato"/>
              </a:rPr>
              <a:t>Journal Article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215" name="Google Shape;374;p14"/>
          <p:cNvSpPr/>
          <p:nvPr/>
        </p:nvSpPr>
        <p:spPr>
          <a:xfrm>
            <a:off x="128880" y="3061080"/>
            <a:ext cx="1534680" cy="394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5e69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7280" bIns="19728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Lato"/>
                <a:ea typeface="Lato"/>
              </a:rPr>
              <a:t>Website</a:t>
            </a:r>
            <a:endParaRPr b="0" lang="en-HK" sz="1400" spc="-1" strike="noStrike">
              <a:latin typeface="Arial"/>
            </a:endParaRPr>
          </a:p>
        </p:txBody>
      </p:sp>
      <p:pic>
        <p:nvPicPr>
          <p:cNvPr id="216" name="Google Shape;375;p14" descr=""/>
          <p:cNvPicPr/>
          <p:nvPr/>
        </p:nvPicPr>
        <p:blipFill>
          <a:blip r:embed="rId1"/>
          <a:stretch/>
        </p:blipFill>
        <p:spPr>
          <a:xfrm>
            <a:off x="1722960" y="451800"/>
            <a:ext cx="5697360" cy="4239360"/>
          </a:xfrm>
          <a:prstGeom prst="rect">
            <a:avLst/>
          </a:prstGeom>
          <a:ln w="9525">
            <a:solidFill>
              <a:srgbClr val="5e696c"/>
            </a:solidFill>
            <a:round/>
          </a:ln>
        </p:spPr>
      </p:pic>
      <p:sp>
        <p:nvSpPr>
          <p:cNvPr id="217" name="PlaceHolder 1"/>
          <p:cNvSpPr>
            <a:spLocks noGrp="1"/>
          </p:cNvSpPr>
          <p:nvPr>
            <p:ph type="sldNum" idx="21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7190ECD3-3E50-4AED-8CA9-62656B2778DD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19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3200" spc="-1" strike="noStrike">
                <a:solidFill>
                  <a:srgbClr val="f55e61"/>
                </a:solidFill>
                <a:latin typeface="Playfair Display"/>
                <a:ea typeface="Playfair Display"/>
              </a:rPr>
              <a:t>Questions? Go here</a:t>
            </a:r>
            <a:endParaRPr b="0" lang="en-HK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2400" spc="-1" strike="noStrike" u="sng">
                <a:solidFill>
                  <a:srgbClr val="af4345"/>
                </a:solidFill>
                <a:uFillTx/>
                <a:latin typeface="Arial"/>
                <a:ea typeface="Arial"/>
                <a:hlinkClick r:id="rId1"/>
              </a:rPr>
              <a:t>Editorial Policy,</a:t>
            </a:r>
            <a:endParaRPr b="0" lang="en-HK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22"/>
          </p:nvPr>
        </p:nvSpPr>
        <p:spPr>
          <a:xfrm>
            <a:off x="8490240" y="4681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rgbClr val="f3f3f3"/>
                </a:solidFill>
                <a:latin typeface="Lato"/>
                <a:ea typeface="Lato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C1F45A73-A070-41A3-9728-7625DB7C3DBE}" type="slidenum">
              <a:rPr b="0" lang="en" sz="1000" spc="-1" strike="noStrike">
                <a:solidFill>
                  <a:srgbClr val="f3f3f3"/>
                </a:solidFill>
                <a:latin typeface="Lato"/>
                <a:ea typeface="Lato"/>
              </a:rPr>
              <a:t>&lt;number&gt;</a:t>
            </a:fld>
            <a:endParaRPr b="0" lang="en-HK" sz="10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Mallory Kindt</dc:creator>
  <dc:description/>
  <dc:language>en-HK</dc:language>
  <cp:lastModifiedBy/>
  <dcterms:modified xsi:type="dcterms:W3CDTF">2025-11-19T13:01:23Z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全屏显示(16:9)</vt:lpwstr>
  </property>
  <property fmtid="{D5CDD505-2E9C-101B-9397-08002B2CF9AE}" pid="4" name="Slides">
    <vt:i4>15</vt:i4>
  </property>
</Properties>
</file>