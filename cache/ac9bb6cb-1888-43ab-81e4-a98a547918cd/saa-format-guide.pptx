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dt" idx="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ftr" idx="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 type="sldNum" idx="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11DFBCC-A27B-4E41-94BC-8E4FB02A2EDE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highlight>
                  <a:srgbClr val="000000"/>
                </a:highlight>
                <a:latin typeface="Arial"/>
                <a:ea typeface="Arial"/>
              </a:rPr>
              <a:t>Hey, is this style double spaced or single spaced? Or is the title page single spaced??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highlight>
                  <a:srgbClr val="000000"/>
                </a:highlight>
                <a:latin typeface="Arial"/>
                <a:ea typeface="Arial"/>
              </a:rPr>
              <a:t>Is primary the same as first? Use consistent language</a:t>
            </a:r>
            <a:endParaRPr b="0" lang="en-HK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highlight>
                  <a:srgbClr val="000000"/>
                </a:highlight>
                <a:latin typeface="Arial"/>
                <a:ea typeface="Arial"/>
              </a:rPr>
              <a:t>Two lines single or double spaced? 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highlight>
                  <a:srgbClr val="000000"/>
                </a:highlight>
                <a:latin typeface="Arial"/>
                <a:ea typeface="Arial"/>
              </a:rPr>
              <a:t>The Multiple authors part is a little confusing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4F29316-0EC5-4629-9089-F955BDADFD3D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01D3A75-B37C-4F03-882F-32D6282BA2FE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AB7EEC6-A43D-47D9-8042-9747BD6DD8DC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70F890D-2A1E-4293-950B-001992F21B91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9132D01-2DAE-4D12-B3A5-AE2A9725EF26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311760" y="391320"/>
            <a:ext cx="8519760" cy="28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9FB8AB7-E6A7-44A2-8936-A0DAA82FBC28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5532D39-034B-49A7-AC88-932DE523D9C2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81654B7-10AE-40EC-9406-DE4BE5C24D31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CC3DB47-0842-4E20-91AD-9AD843AD1310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2AA91A3-1815-4A20-BF34-496C2C615C67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163C5CE-3EFE-418B-A8E7-DC1840327F0B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246264B-BDE4-40D3-81C5-C1900CA01E4D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777B4E-5C8C-4044-9829-46BA0CC88292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FDD48B0-7AE5-4176-BEE6-51212FEF4029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9528826-9533-4C7E-A23F-6B2240E1E6DD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FA31E1-7ADC-41B9-884F-2504761FAF94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9E961EB-5F58-4CD0-98AF-D4F1DA004867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311760" y="391320"/>
            <a:ext cx="8519760" cy="28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BAE330-AB4B-4F01-9648-91FFE598BC2C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170E92-A08B-4E47-B3FB-85D695181814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3094459-DF38-4037-BDE5-B3D14D77022C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D729D2-1C0A-4357-8AC1-9A6A45BFD6F7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B41AAA2-2CE5-4253-BA82-3BF8BBCA7CB3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C82CCB-7766-42CA-A8C4-A9C83F5F5F6A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E1B8C4-A3DE-4C29-A466-0563561FA9DF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D82CE0-4239-4943-A908-D24652BC9329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D698FE-1BED-496F-9A06-FB8386C3E1C6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348A70-EDD9-4FF5-880E-1DFAFE71F3B9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DF0E81-262A-4AF4-B0F6-BA79942E7276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F11E4E-28BB-4337-95A8-A28F9C99AFC5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ubTitle"/>
          </p:nvPr>
        </p:nvSpPr>
        <p:spPr>
          <a:xfrm>
            <a:off x="311760" y="391320"/>
            <a:ext cx="8519760" cy="28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764591-F7B9-4AE7-9208-6AE598D28D34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929F57-A2A9-4784-B6C2-8947C168842A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C5F3B4-6521-4480-B640-FE292013CB89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CC0E99-82B3-4901-A612-28D57F7FAAA5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193B2A-BFFA-41A8-91AC-D0A3A68E4574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A98BD9-73BE-46D5-A117-C80BF7405BA9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7"/>
          <p:cNvSpPr>
            <a:spLocks noGrp="1"/>
          </p:cNvSpPr>
          <p:nvPr>
            <p:ph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9A32B2-F94E-4950-92C0-C754AC2186B8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29611A2-3790-4962-84D3-909E722D6379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4D9CE56-485B-4DA8-AA87-5A9559CD42B6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68F5017-0B16-4753-88FB-6F8F5E24E3C7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8921DF1-9333-4EF1-A306-5BB80CF79D11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C5A00F8-9647-4F7E-8CC2-640B39ECD168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ubTitle"/>
          </p:nvPr>
        </p:nvSpPr>
        <p:spPr>
          <a:xfrm>
            <a:off x="311760" y="391320"/>
            <a:ext cx="8519760" cy="28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00AC88B-88A3-41A5-BC41-F04C65B4758E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A882C59-740B-4F93-9675-B172FFC4C7E5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2AC0E9C-A71C-4D9A-86BA-54B55C8AAFB3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DD3027C-BEFE-438B-9650-464324EB86DF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1D29FC2-B263-445D-8855-8BE9136A3207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17DD4C8-AF0F-4087-A007-D3A4174AE6C1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6"/>
          <p:cNvSpPr>
            <a:spLocks noGrp="1"/>
          </p:cNvSpPr>
          <p:nvPr>
            <p:ph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7"/>
          <p:cNvSpPr>
            <a:spLocks noGrp="1"/>
          </p:cNvSpPr>
          <p:nvPr>
            <p:ph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0EFD7B0-09B0-4230-ADC2-74F341F1A27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16"/>
          <p:cNvSpPr/>
          <p:nvPr/>
        </p:nvSpPr>
        <p:spPr>
          <a:xfrm>
            <a:off x="2748960" y="748800"/>
            <a:ext cx="3645360" cy="36453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Google Shape;11;p16"/>
          <p:cNvSpPr/>
          <p:nvPr/>
        </p:nvSpPr>
        <p:spPr>
          <a:xfrm>
            <a:off x="2993040" y="992880"/>
            <a:ext cx="3157560" cy="3157560"/>
          </a:xfrm>
          <a:prstGeom prst="rect">
            <a:avLst/>
          </a:prstGeom>
          <a:noFill/>
          <a:ln w="2857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000000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636F66E-D9C0-4A1C-AEF3-78D83F80C6FD}" type="slidenum">
              <a:rPr b="0" lang="en" sz="1000" spc="-1" strike="noStrike">
                <a:solidFill>
                  <a:srgbClr val="000000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76;p18"/>
          <p:cNvSpPr/>
          <p:nvPr/>
        </p:nvSpPr>
        <p:spPr>
          <a:xfrm>
            <a:off x="0" y="5045760"/>
            <a:ext cx="914328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4000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C81C2FF-F105-4F95-B522-65CCF323AA39}" type="slidenum">
              <a:rPr b="0" lang="en" sz="1000" spc="-1" strike="noStrike">
                <a:solidFill>
                  <a:srgbClr val="ff4000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solidFill>
                <a:srgbClr val="ff4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41;p20"/>
          <p:cNvSpPr/>
          <p:nvPr/>
        </p:nvSpPr>
        <p:spPr>
          <a:xfrm>
            <a:off x="0" y="5045760"/>
            <a:ext cx="914328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PlaceHolder 1"/>
          <p:cNvSpPr>
            <a:spLocks noGrp="1"/>
          </p:cNvSpPr>
          <p:nvPr>
            <p:ph type="sldNum" idx="3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000000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99830BC-8A1A-4D46-92AD-FB4F668A8942}" type="slidenum">
              <a:rPr b="0" lang="en" sz="1000" spc="-1" strike="noStrike">
                <a:solidFill>
                  <a:srgbClr val="000000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sldNum" idx="4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000000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B4C69A2-1640-4DFA-8031-F2C1ECEABD91}" type="slidenum">
              <a:rPr b="0" lang="en" sz="1000" spc="-1" strike="noStrike">
                <a:solidFill>
                  <a:srgbClr val="000000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documents.saa.org/container/docs/default-source/doc-publications/style-guide/saa-style-guide_updated-july-2018c5062f7e55154959ab57564384bda7de.pdf?sfvrsn=8247640e_6" TargetMode="External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3096360" y="1627200"/>
            <a:ext cx="2950560" cy="1583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fffff"/>
                </a:solidFill>
                <a:latin typeface="Lato"/>
                <a:ea typeface="Lato"/>
              </a:rPr>
              <a:t>SAA Format Guide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subTitle"/>
          </p:nvPr>
        </p:nvSpPr>
        <p:spPr>
          <a:xfrm>
            <a:off x="3096360" y="3267000"/>
            <a:ext cx="2950560" cy="700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ffffff"/>
                </a:solidFill>
                <a:latin typeface="Playfair Display"/>
                <a:ea typeface="Playfair Display"/>
              </a:rPr>
              <a:t>FHSS Writing Lab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8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656CE27-6D97-4862-8A63-0F51B4FF2E42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Title Page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5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Title of work in all caps, bolded, and centered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Author(s)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The words “DO NOT CITE IN ANY CONTEXT WITHOUT PERMISSION OF THE 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AUTHOR(S)” in all caps, unbolded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Authors’ affiliations, flush left, author bolded with a colon separating authors’ 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name and affiliation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9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2379D07-C091-4E62-9DE7-3B4650141468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288;p3" descr=""/>
          <p:cNvPicPr/>
          <p:nvPr/>
        </p:nvPicPr>
        <p:blipFill>
          <a:blip r:embed="rId1"/>
          <a:stretch/>
        </p:blipFill>
        <p:spPr>
          <a:xfrm>
            <a:off x="2492280" y="152280"/>
            <a:ext cx="4158720" cy="4838040"/>
          </a:xfrm>
          <a:prstGeom prst="rect">
            <a:avLst/>
          </a:prstGeom>
          <a:ln w="9525">
            <a:solidFill>
              <a:srgbClr val="5e696c"/>
            </a:solidFill>
            <a:round/>
          </a:ln>
        </p:spPr>
      </p:pic>
      <p:sp>
        <p:nvSpPr>
          <p:cNvPr id="174" name="Google Shape;289;p3"/>
          <p:cNvSpPr/>
          <p:nvPr/>
        </p:nvSpPr>
        <p:spPr>
          <a:xfrm>
            <a:off x="205200" y="1104840"/>
            <a:ext cx="250884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Title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75" name="Google Shape;290;p3"/>
          <p:cNvSpPr/>
          <p:nvPr/>
        </p:nvSpPr>
        <p:spPr>
          <a:xfrm>
            <a:off x="205200" y="1694880"/>
            <a:ext cx="250884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Author(s)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76" name="Google Shape;291;p3"/>
          <p:cNvSpPr/>
          <p:nvPr/>
        </p:nvSpPr>
        <p:spPr>
          <a:xfrm>
            <a:off x="205200" y="2611080"/>
            <a:ext cx="250884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These words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77" name="Google Shape;292;p3"/>
          <p:cNvSpPr/>
          <p:nvPr/>
        </p:nvSpPr>
        <p:spPr>
          <a:xfrm>
            <a:off x="205200" y="3745440"/>
            <a:ext cx="250884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Affiliation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sldNum" idx="10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7ED042D-73F5-4EF6-827F-B6748543330D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Headings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First level headings should be centered, bolded, title case capitalization, and a single line of space above and below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Second level headings are flush left, italicized, title case capitalization, and with a single line of space above and below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Third level headings are part of the paragraph, with an indent, italicized, title case capitalization, and followed by a period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The text immediately follows this period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Do not use “INTRODUCTION” or “ABSTRACT” as headings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References Cited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 is a primary-level heading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1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9825D65-63FC-42DE-9714-40638AC05CFA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305;p5" descr=""/>
          <p:cNvPicPr/>
          <p:nvPr/>
        </p:nvPicPr>
        <p:blipFill>
          <a:blip r:embed="rId1"/>
          <a:stretch/>
        </p:blipFill>
        <p:spPr>
          <a:xfrm>
            <a:off x="1215720" y="397080"/>
            <a:ext cx="3303000" cy="4348800"/>
          </a:xfrm>
          <a:prstGeom prst="rect">
            <a:avLst/>
          </a:prstGeom>
          <a:ln w="9525">
            <a:solidFill>
              <a:srgbClr val="5e696c"/>
            </a:solidFill>
            <a:round/>
          </a:ln>
        </p:spPr>
      </p:pic>
      <p:pic>
        <p:nvPicPr>
          <p:cNvPr id="183" name="Google Shape;306;p5" descr=""/>
          <p:cNvPicPr/>
          <p:nvPr/>
        </p:nvPicPr>
        <p:blipFill>
          <a:blip r:embed="rId2"/>
          <a:stretch/>
        </p:blipFill>
        <p:spPr>
          <a:xfrm>
            <a:off x="4821480" y="397080"/>
            <a:ext cx="3601800" cy="4348800"/>
          </a:xfrm>
          <a:prstGeom prst="rect">
            <a:avLst/>
          </a:prstGeom>
          <a:ln w="9525">
            <a:solidFill>
              <a:srgbClr val="5e696c"/>
            </a:solidFill>
            <a:round/>
          </a:ln>
        </p:spPr>
      </p:pic>
      <p:sp>
        <p:nvSpPr>
          <p:cNvPr id="184" name="Google Shape;307;p5"/>
          <p:cNvSpPr/>
          <p:nvPr/>
        </p:nvSpPr>
        <p:spPr>
          <a:xfrm>
            <a:off x="63000" y="1643040"/>
            <a:ext cx="184392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First level heading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85" name="Google Shape;308;p5"/>
          <p:cNvSpPr/>
          <p:nvPr/>
        </p:nvSpPr>
        <p:spPr>
          <a:xfrm flipH="1">
            <a:off x="7097760" y="947520"/>
            <a:ext cx="199656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Second level heading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86" name="Google Shape;309;p5"/>
          <p:cNvSpPr/>
          <p:nvPr/>
        </p:nvSpPr>
        <p:spPr>
          <a:xfrm flipH="1">
            <a:off x="7097760" y="3145320"/>
            <a:ext cx="199656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Third level heading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12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CCC942A-4739-4417-B244-D2517B82E823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Numbers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All numbers above nine use numerals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Spell out numbers zero through nine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Spell out any numbers at the beginning of the sentence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Spell out numbers that are used in a general sense (not an actual number)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The archeologists recovered several hundred shards.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Ordinal numbers are always spelled out (i.e. seventh cycle, eighteenth century)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13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9F59578-C0CF-46AB-BA0A-B8A895CA76FE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Italics/Quotations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Italics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599"/>
              </a:spcBef>
              <a:buClr>
                <a:srgbClr val="5e696c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Words in languages other than primary language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Titles of books, journals, etc., when mentioned in the text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Quotation Marks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599"/>
              </a:spcBef>
              <a:buClr>
                <a:srgbClr val="5e696c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When using direct quotes of four lines or less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Article titles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sldNum" idx="14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155EE98-7DB0-47AE-986B-B90166C1CBF3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In-Text Citations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Basic Format: (Last Name Year: page #) OR Last Name (Year: page #)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(Larson 2020: 13) / Larson (2020: 13)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Multiple pages (Last Name Year: #-#)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(Kindt 2020: 116-137) / Kindt (2020: 116-137)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Two Authors (Last Name and Last Name Year: page #)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(Reese and Hilton 2019: 36) / Reese and Hilton (2019:36)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5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0D67D3C-4787-4250-A46A-F73C16B08061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In-Text Citations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Three Authors + (Last Name et al. Year: page #)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(Cass et al. 2018: 197) / Cass and others (2018: 197) ***Do not use et al. in text***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Separate the use of multiple citations with a semicolon (;)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(Pyper and Day 2020: 187; Nuccitelli and Judge 2020: 23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Page numbers are unnecessary unless using a direct quote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6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0254E31-DE43-4C63-8669-7F3BFA18440D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References Cited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311760" y="94608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Titled “References Cited” bolded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Alphabetized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Primary level heading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All references cited must be in the References Cited page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No unused references should be included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Double spaced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Additional space between each citation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599"/>
              </a:spcBef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17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D23C3E4-B5BF-4C5D-A30A-112F01AC518D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Book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Format: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Last Name, First Name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Year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 </a:t>
            </a:r>
            <a:r>
              <a:rPr b="0" i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Title in Italics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. Publisher, Publication Place.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Example: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Cusworth, Zack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2020 </a:t>
            </a:r>
            <a:r>
              <a:rPr b="0" i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The Effects on Education on Gender. 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Barnacle Press, Denver, Colorado.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Multiple Authors: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Cusworth Zack, and Angela Stout, (and First Name Last Name)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(only the first author is last name, first name. Every other is first name last name) 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18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B5FFC85-AE8B-43BC-9175-5BFA2C19322A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Online Journal Article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Format: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Last Name, First Name 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Year Title. </a:t>
            </a:r>
            <a:r>
              <a:rPr b="0" i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Journal Title in Italics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 volume#(issue#): ##-##. DOI:0000000000, accessed date.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Example: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Cusworth, Zack 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2018 Disney and Gender. </a:t>
            </a:r>
            <a:r>
              <a:rPr b="0" i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Family 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45(6): 33-42. DOI:000000, accessed July 26, 2019.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9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916CC69-9BA1-4763-8C9D-93439CA9FAAD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Web Pages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666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Format: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Last Name, First Name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Year Title of Site. Electronic document, URL, accessed date month, day, year.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Example: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Cusworth, Zack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2017 Information on IEP. Electronic document, 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http://www.thisdoesnotmatter.com/987987987987098, accessed April 15, 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2019.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20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A214353-5674-4914-ADBC-F58D90096AEC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372;p14"/>
          <p:cNvSpPr/>
          <p:nvPr/>
        </p:nvSpPr>
        <p:spPr>
          <a:xfrm>
            <a:off x="128880" y="1094040"/>
            <a:ext cx="1534680" cy="39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7280" bIns="1972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Book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214" name="Google Shape;373;p14"/>
          <p:cNvSpPr/>
          <p:nvPr/>
        </p:nvSpPr>
        <p:spPr>
          <a:xfrm>
            <a:off x="128880" y="1974960"/>
            <a:ext cx="1534680" cy="39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7280" bIns="1972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Journal Article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215" name="Google Shape;374;p14"/>
          <p:cNvSpPr/>
          <p:nvPr/>
        </p:nvSpPr>
        <p:spPr>
          <a:xfrm>
            <a:off x="128880" y="3061080"/>
            <a:ext cx="1534680" cy="39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7280" bIns="1972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Website</a:t>
            </a:r>
            <a:endParaRPr b="0" lang="en-HK" sz="1400" spc="-1" strike="noStrike">
              <a:latin typeface="Arial"/>
            </a:endParaRPr>
          </a:p>
        </p:txBody>
      </p:sp>
      <p:pic>
        <p:nvPicPr>
          <p:cNvPr id="216" name="Google Shape;375;p14" descr=""/>
          <p:cNvPicPr/>
          <p:nvPr/>
        </p:nvPicPr>
        <p:blipFill>
          <a:blip r:embed="rId1"/>
          <a:stretch/>
        </p:blipFill>
        <p:spPr>
          <a:xfrm>
            <a:off x="1722960" y="451800"/>
            <a:ext cx="5697360" cy="4239360"/>
          </a:xfrm>
          <a:prstGeom prst="rect">
            <a:avLst/>
          </a:prstGeom>
          <a:ln w="9525">
            <a:solidFill>
              <a:srgbClr val="5e696c"/>
            </a:solidFill>
            <a:round/>
          </a:ln>
        </p:spPr>
      </p:pic>
      <p:sp>
        <p:nvSpPr>
          <p:cNvPr id="217" name="PlaceHolder 1"/>
          <p:cNvSpPr>
            <a:spLocks noGrp="1"/>
          </p:cNvSpPr>
          <p:nvPr>
            <p:ph type="sldNum" idx="21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389CA13-06C6-4239-B65D-2EA935516BB5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Questions? Go here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2400" spc="-1" strike="noStrike" u="sng">
                <a:solidFill>
                  <a:srgbClr val="af4345"/>
                </a:solidFill>
                <a:uFillTx/>
                <a:latin typeface="Arial"/>
                <a:ea typeface="Arial"/>
                <a:hlinkClick r:id="rId1"/>
              </a:rPr>
              <a:t>Editorial Policy,</a:t>
            </a:r>
            <a:endParaRPr b="0" lang="en-HK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22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57A86CE-B464-450C-A63E-C99BEC840556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Mallory Kindt</dc:creator>
  <dc:description/>
  <dc:language>en-HK</dc:language>
  <cp:lastModifiedBy/>
  <dcterms:modified xsi:type="dcterms:W3CDTF">2025-11-17T20:39:44Z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全屏显示(16:9)</vt:lpwstr>
  </property>
  <property fmtid="{D5CDD505-2E9C-101B-9397-08002B2CF9AE}" pid="4" name="Slides">
    <vt:i4>15</vt:i4>
  </property>
</Properties>
</file>