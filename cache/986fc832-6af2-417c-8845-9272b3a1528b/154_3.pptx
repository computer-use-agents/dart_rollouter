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35A0765-F448-4D98-B5DA-9D0E0BB2705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3A96FC6-391B-429D-AED1-CEEDCA7B34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DB97C1E-8C98-4355-AB35-74A1E55EDC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D17130C-10EB-4CC0-9837-66FD83DDDB2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48CD0BC-4E01-47E5-8446-E0F69591DDF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2D5B261-7423-4F4E-A056-61FB7686B1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052FD76-A3AA-44C2-AEE3-38620C4A71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547E558-3593-41EA-8438-E9E55F66E2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EA39D23-78E5-4EC8-BF56-389F869970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81743AB-279E-47A9-8688-022458BB7B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424C1DE-C3F3-46CE-BF7F-697BEF463F3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E85F807-1709-4A88-B9FC-4D365D1488E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8CCBC37-2863-48AB-A8A9-A0B74ADC599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 u="sng">
                <a:solidFill>
                  <a:srgbClr val="000000"/>
                </a:solidFill>
                <a:uFillTx/>
                <a:latin typeface="Calibri"/>
              </a:rPr>
              <a:t>GPT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bf0041"/>
                </a:solidFill>
                <a:latin typeface="Calibri"/>
              </a:rPr>
              <a:t>Generative Pre-trained Transformer 3 (GPT-3) is an autoregressive language model released in 2020 that uses deep learning to produce human-like text.</a:t>
            </a:r>
            <a:endParaRPr b="0" lang="en-HK" sz="3200" spc="-1" strike="noStrike">
              <a:solidFill>
                <a:srgbClr val="bf0041"/>
              </a:solidFill>
              <a:latin typeface="Arial"/>
            </a:endParaRPr>
          </a:p>
        </p:txBody>
      </p:sp>
      <p:graphicFrame>
        <p:nvGraphicFramePr>
          <p:cNvPr id="43" name="Table 3"/>
          <p:cNvGraphicFramePr/>
          <p:nvPr/>
        </p:nvGraphicFramePr>
        <p:xfrm>
          <a:off x="664200" y="4904280"/>
          <a:ext cx="7886160" cy="1614240"/>
        </p:xfrm>
        <a:graphic>
          <a:graphicData uri="http://schemas.openxmlformats.org/drawingml/2006/table">
            <a:tbl>
              <a:tblPr/>
              <a:tblGrid>
                <a:gridCol w="3943080"/>
                <a:gridCol w="3943440"/>
              </a:tblGrid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2a6099"/>
                          </a:solidFill>
                          <a:latin typeface="Calibri"/>
                        </a:rPr>
                        <a:t>Model Name</a:t>
                      </a:r>
                      <a:endParaRPr b="0" lang="en-HK" sz="1800" spc="-1" strike="noStrike">
                        <a:solidFill>
                          <a:srgbClr val="2a6099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2a6099"/>
                          </a:solidFill>
                          <a:latin typeface="Calibri"/>
                        </a:rPr>
                        <a:t>ChatGPT</a:t>
                      </a:r>
                      <a:endParaRPr b="0" lang="en-HK" sz="1800" spc="-1" strike="noStrike">
                        <a:solidFill>
                          <a:srgbClr val="2a6099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2a6099"/>
                          </a:solidFill>
                          <a:latin typeface="Calibri"/>
                        </a:rPr>
                        <a:t>Architecture</a:t>
                      </a:r>
                      <a:endParaRPr b="0" lang="en-HK" sz="1800" spc="-1" strike="noStrike">
                        <a:solidFill>
                          <a:srgbClr val="2a6099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2a6099"/>
                          </a:solidFill>
                          <a:latin typeface="Calibri"/>
                        </a:rPr>
                        <a:t>GPT (Generative Pre-trained Transformer)</a:t>
                      </a:r>
                      <a:endParaRPr b="0" lang="en-HK" sz="1800" spc="-1" strike="noStrike">
                        <a:solidFill>
                          <a:srgbClr val="2a6099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2a6099"/>
                          </a:solidFill>
                          <a:latin typeface="Calibri"/>
                        </a:rPr>
                        <a:t>Training Data Size</a:t>
                      </a:r>
                      <a:endParaRPr b="0" lang="en-HK" sz="1800" spc="-1" strike="noStrike">
                        <a:solidFill>
                          <a:srgbClr val="2a6099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2a6099"/>
                          </a:solidFill>
                          <a:latin typeface="Calibri"/>
                        </a:rPr>
                        <a:t>Multiple terabytes of diverse text data</a:t>
                      </a:r>
                      <a:endParaRPr b="0" lang="en-HK" sz="1800" spc="-1" strike="noStrike">
                        <a:solidFill>
                          <a:srgbClr val="2a6099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2025-11-17T06:45:35Z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