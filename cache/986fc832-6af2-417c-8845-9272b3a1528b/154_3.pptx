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7929B3-6929-42CA-A8CD-16583F3855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1D383E-1F42-4531-A498-24E1DDDCEA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613861-B5EB-4788-8A17-2A38C18C66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EDAE61-FC13-4F46-9B0F-9EF17E90EE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C74239-98AB-4D56-AB2A-0A2760DBF1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0EDDB3-BEEF-4CFE-9066-F176C4131A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047BA4-E47F-4939-840D-C88C12F278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A724D2-0811-4E0F-AB26-EDDD6E2ABB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C3E674-3610-4B47-8548-CADCB1A36E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1B0EB0-E3AA-4FA5-ABA2-C914AEF72A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858344-DD6E-4BE2-8746-31C2E8C2A2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DFCC72-3177-4631-9A1D-25B48210241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05C867-8973-4E5D-8AEC-576A88A7F97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000000"/>
                </a:solidFill>
                <a:latin typeface="Calibri"/>
              </a:rPr>
              <a:t>GPT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 u="sng">
                <a:solidFill>
                  <a:srgbClr val="bf0041"/>
                </a:solidFill>
                <a:uFillTx/>
                <a:latin typeface="Calibri"/>
              </a:rPr>
              <a:t>Generative Pre-trained Transformer 3 (GPT-3) is an autoregressive language model released in 2020 that uses deep learning to produce human-like text.</a:t>
            </a:r>
            <a:endParaRPr b="0" lang="en-HK" sz="3200" spc="-1" strike="noStrike" u="sng">
              <a:solidFill>
                <a:srgbClr val="bf0041"/>
              </a:solidFill>
              <a:uFillTx/>
              <a:latin typeface="Arial"/>
            </a:endParaRPr>
          </a:p>
        </p:txBody>
      </p:sp>
      <p:graphicFrame>
        <p:nvGraphicFramePr>
          <p:cNvPr id="43" name="Table 3"/>
          <p:cNvGraphicFramePr/>
          <p:nvPr/>
        </p:nvGraphicFramePr>
        <p:xfrm>
          <a:off x="664200" y="4904280"/>
          <a:ext cx="7886160" cy="1614240"/>
        </p:xfrm>
        <a:graphic>
          <a:graphicData uri="http://schemas.openxmlformats.org/drawingml/2006/table">
            <a:tbl>
              <a:tblPr/>
              <a:tblGrid>
                <a:gridCol w="3943080"/>
                <a:gridCol w="3943440"/>
              </a:tblGrid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 u="sng">
                          <a:solidFill>
                            <a:srgbClr val="bf0041"/>
                          </a:solidFill>
                          <a:uFillTx/>
                          <a:latin typeface="Calibri"/>
                        </a:rPr>
                        <a:t>Model Name</a:t>
                      </a:r>
                      <a:endParaRPr b="0" lang="en-HK" sz="1800" spc="-1" strike="noStrike" u="sng">
                        <a:solidFill>
                          <a:srgbClr val="bf0041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 u="sng">
                          <a:solidFill>
                            <a:srgbClr val="bf0041"/>
                          </a:solidFill>
                          <a:uFillTx/>
                          <a:latin typeface="Calibri"/>
                        </a:rPr>
                        <a:t>ChatGPT</a:t>
                      </a:r>
                      <a:endParaRPr b="0" lang="en-HK" sz="1800" spc="-1" strike="noStrike" u="sng">
                        <a:solidFill>
                          <a:srgbClr val="bf0041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 u="sng">
                          <a:solidFill>
                            <a:srgbClr val="bf0041"/>
                          </a:solidFill>
                          <a:uFillTx/>
                          <a:latin typeface="Calibri"/>
                        </a:rPr>
                        <a:t>Architecture</a:t>
                      </a:r>
                      <a:endParaRPr b="0" lang="en-HK" sz="1800" spc="-1" strike="noStrike" u="sng">
                        <a:solidFill>
                          <a:srgbClr val="bf0041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 u="sng">
                          <a:solidFill>
                            <a:srgbClr val="bf0041"/>
                          </a:solidFill>
                          <a:uFillTx/>
                          <a:latin typeface="Calibri"/>
                        </a:rPr>
                        <a:t>GPT (Generative Pre-trained Transformer)</a:t>
                      </a:r>
                      <a:endParaRPr b="0" lang="en-HK" sz="1800" spc="-1" strike="noStrike" u="sng">
                        <a:solidFill>
                          <a:srgbClr val="bf0041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 u="sng">
                          <a:solidFill>
                            <a:srgbClr val="bf0041"/>
                          </a:solidFill>
                          <a:uFillTx/>
                          <a:latin typeface="Calibri"/>
                        </a:rPr>
                        <a:t>Training Data Size</a:t>
                      </a:r>
                      <a:endParaRPr b="0" lang="en-HK" sz="1800" spc="-1" strike="noStrike" u="sng">
                        <a:solidFill>
                          <a:srgbClr val="bf0041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 u="sng">
                          <a:solidFill>
                            <a:srgbClr val="bf0041"/>
                          </a:solidFill>
                          <a:uFillTx/>
                          <a:latin typeface="Calibri"/>
                        </a:rPr>
                        <a:t>Multiple terabytes of diverse text data</a:t>
                      </a:r>
                      <a:endParaRPr b="0" lang="en-HK" sz="1800" spc="-1" strike="noStrike" u="sng">
                        <a:solidFill>
                          <a:srgbClr val="bf0041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2025-11-19T14:25:29Z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